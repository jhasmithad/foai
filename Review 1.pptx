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017C0E4-0B39-F8CA-FC17-3902A43193B0}">
          <p14:sldIdLst>
            <p14:sldId id="256"/>
            <p14:sldId id="257"/>
            <p14:sldId id="258"/>
          </p14:sldIdLst>
        </p14:section>
        <p14:section name="Background" id="{CC4BB588-33D4-A46D-DF9D-2B5BD3618B0C}">
          <p14:sldIdLst>
            <p14:sldId id="259"/>
            <p14:sldId id="260"/>
            <p14:sldId id="261"/>
          </p14:sldIdLst>
        </p14:section>
        <p14:section name="Work" id="{94C7D2D6-0CF2-D642-BCB1-34884E8C227B}">
          <p14:sldIdLst>
            <p14:sldId id="262"/>
            <p14:sldId id="263"/>
          </p14:sldIdLst>
        </p14:section>
        <p14:section name="Close" id="{7A8C7898-7E14-A9AB-0221-59421F495E6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937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i="1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5"/>
                </a:solidFill>
              </a:rPr>
              <a:t>LOGIClean  ·  Classical-AI Cleaning Robot  |  Project Review 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i="1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4"/>
                </a:solidFill>
              </a:rPr>
              <a:t>LOGIClean  ·  Classical-AI Cleaning Robot  |  Project Review 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4"/>
                </a:solidFill>
              </a:rPr>
              <a:t>LOGIClean  ·  Classical-AI Cleaning Robot  |  Project Review I</a:t>
            </a:r>
            <a:endParaRPr lang="en-US" sz="9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i="1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4"/>
                </a:solidFill>
              </a:rPr>
              <a:t>LOGIClean  ·  Classical-AI Cleaning Robot  |  Project Review 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50" b="1" kern="0" spc="400" dirty="0">
                <a:solidFill>
                  <a:schemeClr val="accent6"/>
                </a:solidFill>
              </a:rPr>
              <a:t>PROJECT REVIEW – I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5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LOGIClean</a:t>
            </a:r>
            <a:endParaRPr lang="en-US" sz="1150" dirty="0"/>
          </a:p>
          <a:p>
            <a:pPr marL="0" indent="0">
              <a:spcAft>
                <a:spcPts val="2200"/>
              </a:spcAft>
              <a:buNone/>
            </a:pPr>
            <a:r>
              <a:rPr lang="en-US" sz="2100" dirty="0">
                <a:solidFill>
                  <a:schemeClr val="accent4"/>
                </a:solidFill>
              </a:rPr>
              <a:t>An Autonomous Cleaning Robot Using Classical AI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40 × 30 grid  ·  five AI techniques  ·  seven floor plans</a:t>
            </a:r>
            <a:endParaRPr lang="en-US" sz="115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 robot that maps an unknown house with limited sensing, then cleans it one room at a time using search, rules and constraint solving.</a:t>
            </a:r>
            <a:endParaRPr lang="en-US" sz="1150" dirty="0"/>
          </a:p>
        </p:txBody>
      </p:sp>
      <p:sp>
        <p:nvSpPr>
          <p:cNvPr id="3" name="rule"/>
          <p:cNvSpPr/>
          <p:nvPr/>
        </p:nvSpPr>
        <p:spPr>
          <a:xfrm>
            <a:off x="658368" y="4709160"/>
            <a:ext cx="23774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48463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kern="0" spc="300" dirty="0">
                <a:solidFill>
                  <a:schemeClr val="accent6"/>
                </a:solidFill>
              </a:rPr>
              <a:t>BY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Jhasmitha D   –   2116230701216</a:t>
            </a:r>
            <a:endParaRPr lang="en-US" sz="1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Keerthi Priya T   –   2116230701258</a:t>
            </a:r>
            <a:endParaRPr lang="en-US" sz="1000" dirty="0"/>
          </a:p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Foundations of Artificial Intelligence</a:t>
            </a:r>
            <a:endParaRPr lang="en-US" sz="1000" dirty="0"/>
          </a:p>
        </p:txBody>
      </p:sp>
      <p:sp>
        <p:nvSpPr>
          <p:cNvPr id="5" name="screenshot frame"/>
          <p:cNvSpPr/>
          <p:nvPr/>
        </p:nvSpPr>
        <p:spPr>
          <a:xfrm>
            <a:off x="6400800" y="914400"/>
            <a:ext cx="5212080" cy="4892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LOGIClean in Simulate mode, sweeping the default 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05840"/>
            <a:ext cx="5029200" cy="46056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4"/>
                </a:solidFill>
              </a:rPr>
              <a:t>The application in Simulate mode: the robot sweeping the default house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01 · ABSTRACT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What the robot is, and what the AI has to do</a:t>
            </a:r>
            <a:endParaRPr lang="en-US" sz="1300" dirty="0"/>
          </a:p>
        </p:txBody>
      </p:sp>
      <p:sp>
        <p:nvSpPr>
          <p:cNvPr id="5" name="robot panel"/>
          <p:cNvSpPr/>
          <p:nvPr/>
        </p:nvSpPr>
        <p:spPr>
          <a:xfrm>
            <a:off x="548640" y="1737360"/>
            <a:ext cx="5394960" cy="448056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279400" tIns="330200" rIns="330200" bIns="2032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ROBOT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LOGIClean is a simulated cleaning robot built only from classical AI. It starts with no map and senses just the four cells next to it, builds a belief map, and cleans each room completely before moving on. There is no machine learning anywhere in the system.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kern="0" spc="300" dirty="0">
                <a:solidFill>
                  <a:schemeClr val="accent6"/>
                </a:solidFill>
              </a:rPr>
              <a:t>KEY CONCEPTS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Belief map  ·  A* search  ·  Frontier exploration  ·  Forward chaining  ·  Constraint satisfaction  ·  Coverage planning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kern="0" spc="300" dirty="0">
                <a:solidFill>
                  <a:schemeClr val="accent6"/>
                </a:solidFill>
              </a:rPr>
              <a:t>AT A GLANCE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7 floor plans, each fully mapped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 dirty cell cleaned, no room revisited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173 automated tests, all passing</a:t>
            </a:r>
            <a:endParaRPr lang="en-US" sz="1400" dirty="0"/>
          </a:p>
        </p:txBody>
      </p:sp>
      <p:sp>
        <p:nvSpPr>
          <p:cNvPr id="6" name="floor plan card"/>
          <p:cNvSpPr/>
          <p:nvPr/>
        </p:nvSpPr>
        <p:spPr>
          <a:xfrm>
            <a:off x="6172200" y="1737360"/>
            <a:ext cx="5440680" cy="4480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127000" tIns="127000" rIns="127000" bIns="152400" rtlCol="0" anchor="b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50" i="1" dirty="0">
                <a:solidFill>
                  <a:schemeClr val="accent5"/>
                </a:solidFill>
              </a:rPr>
              <a:t>The seven floor plans the robot was tested on</a:t>
            </a:r>
            <a:endParaRPr lang="en-US" sz="1400" dirty="0"/>
          </a:p>
        </p:txBody>
      </p:sp>
      <p:pic>
        <p:nvPicPr>
          <p:cNvPr id="7" name="Image 0" descr="The seven test floor plans with their authored roo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847088"/>
            <a:ext cx="5029200" cy="43457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02 · PROBLEM STATEMENT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a Blank Map to a Clean House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Why a cleaning robot is an AI problem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</a:t>
            </a:r>
            <a:endParaRPr lang="en-US" sz="165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</a:rPr>
              <a:t>The robot starts with no knowledge of the house layout.</a:t>
            </a:r>
            <a:endParaRPr lang="en-US" sz="165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</a:rPr>
              <a:t>It senses only the four cells next to it, so the world is only partly observable.</a:t>
            </a:r>
            <a:endParaRPr lang="en-US" sz="165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</a:rPr>
              <a:t>Every room has to be cleaned completely, one room at a time, in a valid order.</a:t>
            </a:r>
            <a:endParaRPr lang="en-US" sz="165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</a:rPr>
              <a:t>Household rules apply. The room where the pet is sleeping is skipped.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</a:rPr>
              <a:t>People, pets and obstacles move, so plans have to be revised during a run.</a:t>
            </a:r>
            <a:endParaRPr lang="en-US" sz="1650" dirty="0"/>
          </a:p>
        </p:txBody>
      </p:sp>
      <p:sp>
        <p:nvSpPr>
          <p:cNvPr id="6" name="ai challenge"/>
          <p:cNvSpPr/>
          <p:nvPr/>
        </p:nvSpPr>
        <p:spPr>
          <a:xfrm>
            <a:off x="6720840" y="1737360"/>
            <a:ext cx="4892040" cy="384048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330200" tIns="355600" rIns="355600" bIns="2286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CHALLENGE</a:t>
            </a:r>
            <a:endParaRPr lang="en-US" sz="175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chemeClr val="bg1"/>
                </a:solidFill>
              </a:rPr>
              <a:t>Sense the neighbouring cells</a:t>
            </a:r>
            <a:endParaRPr lang="en-US" sz="175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chemeClr val="bg1"/>
                </a:solidFill>
              </a:rPr>
              <a:t>Update the belief map</a:t>
            </a:r>
            <a:endParaRPr lang="en-US" sz="175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chemeClr val="bg1"/>
                </a:solidFill>
              </a:rPr>
              <a:t>Plan a route with A*</a:t>
            </a:r>
            <a:endParaRPr lang="en-US" sz="175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chemeClr val="bg1"/>
                </a:solidFill>
              </a:rPr>
              <a:t>Apply rules and order the rooms</a:t>
            </a:r>
            <a:endParaRPr lang="en-US" sz="17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chemeClr val="bg1"/>
                </a:solidFill>
              </a:rPr>
              <a:t>Move, clean and repeat</a:t>
            </a:r>
            <a:endParaRPr lang="en-US" sz="1750" dirty="0"/>
          </a:p>
        </p:txBody>
      </p:sp>
      <p:sp>
        <p:nvSpPr>
          <p:cNvPr id="7" name="problem statement"/>
          <p:cNvSpPr/>
          <p:nvPr/>
        </p:nvSpPr>
        <p:spPr>
          <a:xfrm>
            <a:off x="548640" y="5760720"/>
            <a:ext cx="11064240" cy="56692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50800" tIns="203200" rIns="2032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PROBLEM STATEMENT   </a:t>
            </a:r>
            <a:r>
              <a:rPr lang="en-US" sz="1250" i="1" dirty="0">
                <a:solidFill>
                  <a:schemeClr val="tx1"/>
                </a:solidFill>
              </a:rPr>
              <a:t>Design a simulated cleaning robot that explores an unknown floor plan, cleans it room by room, obeys household rules and avoids moving hazards, using only classical, non-learning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03 · LITERATURE SURVEY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Existing Foundations for the AI Techniques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Established work that LOGIClean combines</a:t>
            </a:r>
            <a:endParaRPr lang="en-US" sz="1300" dirty="0"/>
          </a:p>
        </p:txBody>
      </p:sp>
      <p:graphicFrame>
        <p:nvGraphicFramePr>
          <p:cNvPr id="5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Work / Source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Technique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Key Finding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Project Relevance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Hart, Nilsson &amp; Raphael (1968)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A* search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An admissible heuristic gives optimal paths efficiently.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All route planning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Yamauchi (1997)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Frontier exploration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Travelling to the nearest frontier maps an unknown space.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Mapping the house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Choset &amp; Pignon (1998)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Boustrophedon coverage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Back-and-forth sweeps cover free space completely.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Room-by-room cleaning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Mackworth (1977)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AC-3 + backtracking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Arc consistency prunes impossible values before search.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Room visiting order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Kowalski (1979)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Forward chaining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Rules applied to known facts derive new conclusions.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Skip rule for the pet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LaValle (2006)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Replanning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Plan again from the current state when the world changes.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Moving obstacles and pet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servation"/>
          <p:cNvSpPr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50800" tIns="228600" rIns="228600" bIns="508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bg1"/>
                </a:solidFill>
              </a:rPr>
              <a:t>Each technique is well established on its own. The project’s contribution is putting them together in one small robot whose every decision can be traced.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04 · RESEARCH GAP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the Proposed Work Is Positioned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Reading across cleaning robots and AI teaching examples</a:t>
            </a:r>
            <a:endParaRPr lang="en-US" sz="1300" dirty="0"/>
          </a:p>
        </p:txBody>
      </p:sp>
      <p:sp>
        <p:nvSpPr>
          <p:cNvPr id="5" name="gap card"/>
          <p:cNvSpPr/>
          <p:nvPr/>
        </p:nvSpPr>
        <p:spPr>
          <a:xfrm>
            <a:off x="548640" y="1737360"/>
            <a:ext cx="3566160" cy="3108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279400" tIns="279400" rIns="279400" bIns="2032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EXISTING CLEANING ROBOTS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50" dirty="0">
                <a:solidFill>
                  <a:schemeClr val="tx1"/>
                </a:solidFill>
              </a:rPr>
              <a:t>Commercial robot vacuums map and clean effectively.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50" dirty="0">
                <a:solidFill>
                  <a:schemeClr val="tx1"/>
                </a:solidFill>
              </a:rPr>
              <a:t>Their decision logic is usually proprietary or learned, so individual decisions are hard to trace or explain.</a:t>
            </a:r>
            <a:endParaRPr lang="en-US" sz="1400" dirty="0"/>
          </a:p>
        </p:txBody>
      </p:sp>
      <p:sp>
        <p:nvSpPr>
          <p:cNvPr id="6" name="gap card"/>
          <p:cNvSpPr/>
          <p:nvPr/>
        </p:nvSpPr>
        <p:spPr>
          <a:xfrm>
            <a:off x="4297680" y="1737360"/>
            <a:ext cx="3566160" cy="3108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279400" tIns="279400" rIns="279400" bIns="2032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EXISTING AI EXAMPLES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50" dirty="0">
                <a:solidFill>
                  <a:schemeClr val="tx1"/>
                </a:solidFill>
              </a:rPr>
              <a:t>Search, constraint satisfaction and logic are normally shown on separate toy problems.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50" dirty="0">
                <a:solidFill>
                  <a:schemeClr val="tx1"/>
                </a:solidFill>
              </a:rPr>
              <a:t>Few examples show them cooperating inside one agent that has to act in a world.</a:t>
            </a:r>
            <a:endParaRPr lang="en-US" sz="1400" dirty="0"/>
          </a:p>
        </p:txBody>
      </p:sp>
      <p:sp>
        <p:nvSpPr>
          <p:cNvPr id="7" name="gap card dark"/>
          <p:cNvSpPr/>
          <p:nvPr/>
        </p:nvSpPr>
        <p:spPr>
          <a:xfrm>
            <a:off x="8046720" y="1737360"/>
            <a:ext cx="3566160" cy="310896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254000" tIns="279400" rIns="2794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IDENTIFIED GAP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One transparent system that combines: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Belief map kept apart from the ground truth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A* search and frontier exploration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Rules and CSP room ordering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Complete room-by-room coverage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Prediction and replanning around hazards</a:t>
            </a:r>
            <a:endParaRPr lang="en-US" sz="1400" dirty="0"/>
          </a:p>
        </p:txBody>
      </p:sp>
      <p:sp>
        <p:nvSpPr>
          <p:cNvPr id="8" name="gap statement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152400" tIns="304800" rIns="304800" bIns="1524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kern="0" spc="300" dirty="0">
                <a:solidFill>
                  <a:schemeClr val="accent1"/>
                </a:solidFill>
              </a:rPr>
              <a:t>RESEARCH GAP STATEMENT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There is scope for a small, inspectable cleaning robot in which every decision comes from a named classical algorithm, and in which the techniques are shown working together on floor plans of different structure.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05 · RESEARCH OBJECTIVE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the Project Aims to Achieve</a:t>
            </a:r>
            <a:endParaRPr lang="en-US" sz="3000" dirty="0"/>
          </a:p>
        </p:txBody>
      </p:sp>
      <p:sp>
        <p:nvSpPr>
          <p:cNvPr id="4" name="primary objective"/>
          <p:cNvSpPr/>
          <p:nvPr/>
        </p:nvSpPr>
        <p:spPr>
          <a:xfrm>
            <a:off x="548640" y="1345761"/>
            <a:ext cx="11064240" cy="118872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 wrap="square" lIns="177800" tIns="304800" rIns="304800" bIns="15240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kern="0" spc="300" dirty="0">
                <a:solidFill>
                  <a:schemeClr val="accent6"/>
                </a:solidFill>
              </a:rPr>
              <a:t>PRIMARY OBJECTIVE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dirty="0">
                <a:solidFill>
                  <a:schemeClr val="bg1"/>
                </a:solidFill>
              </a:rPr>
              <a:t>Develop a simulated cleaning robot that maps an unknown floor plan, orders the rooms with a constraint solver and cleans each room completely using classical AI techniques.</a:t>
            </a:r>
            <a:endParaRPr lang="en-US" sz="1400" dirty="0"/>
          </a:p>
        </p:txBody>
      </p:sp>
      <p:sp>
        <p:nvSpPr>
          <p:cNvPr id="5" name="objective card"/>
          <p:cNvSpPr/>
          <p:nvPr/>
        </p:nvSpPr>
        <p:spPr>
          <a:xfrm>
            <a:off x="548640" y="2788920"/>
            <a:ext cx="3566160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177800" tIns="228600" rIns="2286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   </a:t>
            </a: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Belief map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Keep the robot’s belief separate from the true map, so it plans only on what it has sensed.</a:t>
            </a:r>
            <a:endParaRPr lang="en-US" sz="1400" dirty="0"/>
          </a:p>
        </p:txBody>
      </p:sp>
      <p:sp>
        <p:nvSpPr>
          <p:cNvPr id="6" name="objective card"/>
          <p:cNvSpPr/>
          <p:nvPr/>
        </p:nvSpPr>
        <p:spPr>
          <a:xfrm>
            <a:off x="4297680" y="2788920"/>
            <a:ext cx="3566160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177800" tIns="228600" rIns="2286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   </a:t>
            </a: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Exploration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Map the house with frontier exploration, travelling with A* over cells it has already seen.</a:t>
            </a:r>
            <a:endParaRPr lang="en-US" sz="1400" dirty="0"/>
          </a:p>
        </p:txBody>
      </p:sp>
      <p:sp>
        <p:nvSpPr>
          <p:cNvPr id="7" name="objective card"/>
          <p:cNvSpPr/>
          <p:nvPr/>
        </p:nvSpPr>
        <p:spPr>
          <a:xfrm>
            <a:off x="8046720" y="2788920"/>
            <a:ext cx="3566160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177800" tIns="228600" rIns="2286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   </a:t>
            </a: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Rules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Apply household rules by forward chaining, such as skipping the room of a sleeping pet.</a:t>
            </a:r>
            <a:endParaRPr lang="en-US" sz="1400" dirty="0"/>
          </a:p>
        </p:txBody>
      </p:sp>
      <p:sp>
        <p:nvSpPr>
          <p:cNvPr id="8" name="objective card"/>
          <p:cNvSpPr/>
          <p:nvPr/>
        </p:nvSpPr>
        <p:spPr>
          <a:xfrm>
            <a:off x="548640" y="4572000"/>
            <a:ext cx="3566160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177800" tIns="228600" rIns="2286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   </a:t>
            </a: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Room order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Order the rooms as a constraint problem, solved with AC-3 and backtracking.</a:t>
            </a:r>
            <a:endParaRPr lang="en-US" sz="1400" dirty="0"/>
          </a:p>
        </p:txBody>
      </p:sp>
      <p:sp>
        <p:nvSpPr>
          <p:cNvPr id="9" name="objective card"/>
          <p:cNvSpPr/>
          <p:nvPr/>
        </p:nvSpPr>
        <p:spPr>
          <a:xfrm>
            <a:off x="4297680" y="4572000"/>
            <a:ext cx="3566160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177800" tIns="228600" rIns="2286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   </a:t>
            </a: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Coverage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Sweep every room completely, one room at a time, so dirt is cleaned without being located first.</a:t>
            </a:r>
            <a:endParaRPr lang="en-US" sz="1400" dirty="0"/>
          </a:p>
        </p:txBody>
      </p:sp>
      <p:sp>
        <p:nvSpPr>
          <p:cNvPr id="10" name="objective card"/>
          <p:cNvSpPr/>
          <p:nvPr/>
        </p:nvSpPr>
        <p:spPr>
          <a:xfrm>
            <a:off x="8046720" y="4572000"/>
            <a:ext cx="3566160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177800" tIns="228600" rIns="228600" bIns="1270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   </a:t>
            </a: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Avoidance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Predict where moving hazards will be and replan the route around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06 · PROPOSED WORK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Architecture, Technology Stack &amp; Algorithm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Five layers; each one depends only on the layers below it</a:t>
            </a:r>
            <a:endParaRPr lang="en-US" sz="1300" dirty="0"/>
          </a:p>
        </p:txBody>
      </p:sp>
      <p:sp>
        <p:nvSpPr>
          <p:cNvPr id="5" name="architecture frame"/>
          <p:cNvSpPr/>
          <p:nvPr/>
        </p:nvSpPr>
        <p:spPr>
          <a:xfrm>
            <a:off x="548640" y="1737360"/>
            <a:ext cx="5349240" cy="4526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Layered architecture of LOGICle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5166360" cy="4343400"/>
          </a:xfrm>
          <a:prstGeom prst="rect">
            <a:avLst/>
          </a:prstGeom>
        </p:spPr>
      </p:pic>
      <p:sp>
        <p:nvSpPr>
          <p:cNvPr id="7" name="tech stack"/>
          <p:cNvSpPr/>
          <p:nvPr/>
        </p:nvSpPr>
        <p:spPr>
          <a:xfrm>
            <a:off x="6172200" y="1737360"/>
            <a:ext cx="544068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203200" tIns="279400" rIns="279400" bIns="1524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 STACK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Python 3.11  ·  Pygame  ·  NumPy  ·  pymunk  ·  pytest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i="1" dirty="0">
                <a:solidFill>
                  <a:schemeClr val="accent4"/>
                </a:solidFill>
              </a:rPr>
              <a:t>Maps are saved as JSON and every decision is logged as JSON lines.</a:t>
            </a:r>
            <a:endParaRPr lang="en-US" sz="1400" dirty="0"/>
          </a:p>
        </p:txBody>
      </p:sp>
      <p:sp>
        <p:nvSpPr>
          <p:cNvPr id="8" name="algorithm"/>
          <p:cNvSpPr/>
          <p:nvPr/>
        </p:nvSpPr>
        <p:spPr>
          <a:xfrm>
            <a:off x="6172200" y="3474720"/>
            <a:ext cx="5440680" cy="2788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203200" tIns="279400" rIns="279400" bIns="1270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A* search with a terrain-aware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Frontier exploration over the belief 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Forward chaining for household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AC-3 and backtracking for the room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Boustrophedon sweep, one room at a 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Trajectory prediction with replanning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chemeClr val="accent5"/>
                </a:solidFill>
              </a:rPr>
              <a:t>Future option: noisy sensing with a probabilistic occupancy grid.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07 · IMPLEMENTATION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Software, System Requirements &amp; Modules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What is needed to build and run the system</a:t>
            </a:r>
            <a:endParaRPr lang="en-US" sz="1300" dirty="0"/>
          </a:p>
        </p:txBody>
      </p:sp>
      <p:sp>
        <p:nvSpPr>
          <p:cNvPr id="5" name="software"/>
          <p:cNvSpPr/>
          <p:nvPr/>
        </p:nvSpPr>
        <p:spPr>
          <a:xfrm>
            <a:off x="548640" y="1737360"/>
            <a:ext cx="3611880" cy="3977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254000" tIns="279400" rIns="2794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SOFTWARE REQUIREMENTS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Python 3.11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Pygame 2.6 for display and input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NumPy for the grid layers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pymunk for the visual glide only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pytest for the automated tests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Windows, Linux or macOS</a:t>
            </a:r>
            <a:endParaRPr lang="en-US" sz="1400" dirty="0"/>
          </a:p>
        </p:txBody>
      </p:sp>
      <p:sp>
        <p:nvSpPr>
          <p:cNvPr id="6" name="system"/>
          <p:cNvSpPr/>
          <p:nvPr/>
        </p:nvSpPr>
        <p:spPr>
          <a:xfrm>
            <a:off x="4297680" y="1737360"/>
            <a:ext cx="3611880" cy="397764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254000" tIns="279400" rIns="2794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SYSTEM REQUIREMENTS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kern="0" spc="300" dirty="0">
                <a:solidFill>
                  <a:schemeClr val="accent6"/>
                </a:solidFill>
              </a:rPr>
              <a:t>MINIMUM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Dual-core processor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4 GB RAM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500 MB free storage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1280 × 720 display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Keyboard and mouse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Recommended: 8 GB RAM and a modern processor.</a:t>
            </a:r>
            <a:endParaRPr lang="en-US" sz="1400" dirty="0"/>
          </a:p>
        </p:txBody>
      </p:sp>
      <p:sp>
        <p:nvSpPr>
          <p:cNvPr id="7" name="modules"/>
          <p:cNvSpPr/>
          <p:nvPr/>
        </p:nvSpPr>
        <p:spPr>
          <a:xfrm>
            <a:off x="8046720" y="1737360"/>
            <a:ext cx="3566160" cy="3977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txBody>
          <a:bodyPr wrap="square" lIns="254000" tIns="279400" rIns="279400" bIns="1778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IMPLEMENTATION MODULES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Environment and sensing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Search and exploration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Logical reasoning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Constraint satisfaction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Coverage and controller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Obstacle avoidance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Key Sources Used for Project Framing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chemeClr val="tx1"/>
                </a:solidFill>
              </a:rPr>
              <a:t>S. Russell and P. Norvig, Artificial Intelligence: A Modern Approach, 4th ed., Pearson, 2021.</a:t>
            </a:r>
            <a:endParaRPr lang="en-US" sz="155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chemeClr val="tx1"/>
                </a:solidFill>
              </a:rPr>
              <a:t>P. E. Hart, N. J. Nilsson and B. Raphael, “A Formal Basis for the Heuristic Determination of Minimum Cost Paths,” IEEE Transactions on SSC, 1968.</a:t>
            </a:r>
            <a:endParaRPr lang="en-US" sz="155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chemeClr val="tx1"/>
                </a:solidFill>
              </a:rPr>
              <a:t>B. Yamauchi, “A Frontier-Based Approach for Autonomous Exploration,” IEEE CIRA, 1997.</a:t>
            </a:r>
            <a:endParaRPr lang="en-US" sz="155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chemeClr val="tx1"/>
                </a:solidFill>
              </a:rPr>
              <a:t>H. Choset and P. Pignon, “Coverage Path Planning: The Boustrophedon Cellular Decomposition,” Field and Service Robotics, 1998.</a:t>
            </a:r>
            <a:endParaRPr lang="en-US" sz="155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chemeClr val="tx1"/>
                </a:solidFill>
              </a:rPr>
              <a:t>A. K. Mackworth, “Consistency in Networks of Relations,” Artificial Intelligence, 1977.</a:t>
            </a:r>
            <a:endParaRPr lang="en-US" sz="155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chemeClr val="tx1"/>
                </a:solidFill>
              </a:rPr>
              <a:t>R. Kowalski, Logic for Problem Solving, North-Holland, 1979.</a:t>
            </a:r>
            <a:endParaRPr lang="en-US" sz="1550" dirty="0"/>
          </a:p>
          <a:p>
            <a:pPr marL="342900" indent="-342900"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chemeClr val="tx1"/>
                </a:solidFill>
              </a:rPr>
              <a:t>S. M. LaValle, Planning Algorithms, Cambridge University Press, 2006.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3200" dirty="0"/>
          </a:p>
          <a:p>
            <a:pPr marL="0" indent="0" algn="ctr">
              <a:buNone/>
            </a:pPr>
            <a:r>
              <a:rPr lang="en-US" sz="1500" i="1" dirty="0">
                <a:solidFill>
                  <a:schemeClr val="accent6"/>
                </a:solidFill>
              </a:rPr>
              <a:t>Questions &amp; Discussion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IClean">
  <a:themeElements>
    <a:clrScheme name="LOGIClean">
      <a:dk1>
        <a:srgbClr val="1B2536"/>
      </a:dk1>
      <a:lt1>
        <a:srgbClr val="FFFFFF"/>
      </a:lt1>
      <a:dk2>
        <a:srgbClr val="16335B"/>
      </a:dk2>
      <a:lt2>
        <a:srgbClr val="F2F5F9"/>
      </a:lt2>
      <a:accent1>
        <a:srgbClr val="D6453F"/>
      </a:accent1>
      <a:accent2>
        <a:srgbClr val="2D6A9F"/>
      </a:accent2>
      <a:accent3>
        <a:srgbClr val="DCE5F0"/>
      </a:accent3>
      <a:accent4>
        <a:srgbClr val="CFE0F0"/>
      </a:accent4>
      <a:accent5>
        <a:srgbClr val="5F6F86"/>
      </a:accent5>
      <a:accent6>
        <a:srgbClr val="F2A59E"/>
      </a:accent6>
      <a:hlink>
        <a:srgbClr val="2D6A9F"/>
      </a:hlink>
      <a:folHlink>
        <a:srgbClr val="5F6F86"/>
      </a:folHlink>
    </a:clrScheme>
    <a:fontScheme name="LOGICle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1208</Words>
  <Application>Microsoft Office PowerPoint</Application>
  <PresentationFormat>Widescreen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LOGIClean</vt:lpstr>
      <vt:lpstr>PowerPoint Presentation</vt:lpstr>
      <vt:lpstr>Project Overview</vt:lpstr>
      <vt:lpstr>From a Blank Map to a Clean House</vt:lpstr>
      <vt:lpstr>Existing Foundations for the AI Techniques</vt:lpstr>
      <vt:lpstr>Where the Proposed Work Is Positioned</vt:lpstr>
      <vt:lpstr>What the Project Aims to Achieve</vt:lpstr>
      <vt:lpstr>Architecture, Technology Stack &amp; Algorithm</vt:lpstr>
      <vt:lpstr>Software, System Requirements &amp; Modules</vt:lpstr>
      <vt:lpstr>Key Sources Used for Project Framing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LOGIClean - Project Review I</dc:title>
  <dc:subject>Foundations of Artificial Intelligence</dc:subject>
  <dc:creator>PptxGenJS</dc:creator>
  <cp:lastModifiedBy>Jhasmitha D</cp:lastModifiedBy>
  <cp:revision>2</cp:revision>
  <dcterms:created xsi:type="dcterms:W3CDTF">2026-10-12T17:18:30Z</dcterms:created>
  <dcterms:modified xsi:type="dcterms:W3CDTF">2026-10-12T17:22:32Z</dcterms:modified>
</cp:coreProperties>
</file>